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7" r:id="rId3"/>
    <p:sldId id="279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6903-D7FE-22A6-66DE-4CB58D01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B47F-7EBA-4772-14A0-00A6753D2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8DCEB-E46F-7C60-E023-D4C6C41F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7703-A82D-115B-73A7-0A54DF19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8B12-8622-D9FA-7823-881CCCAB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382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117F-9DA3-EAAA-F905-49905D1A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74311-DA1B-85A4-0346-57942DD58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3C9C-3DE4-C063-1AB3-18923646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681AC-8786-EE1A-1DC0-96EB3529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FA42E-2652-BCE4-903A-45677505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614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DE90-9421-2025-7CFF-6E4EE7EC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2EFFA-CBF1-173F-2CEB-A3B5DC8A0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385C1-5F26-D2F9-30A2-FECC4FD34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7EAF4-951D-034F-70F3-342C1CC6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80322-6A40-FE25-B16B-1FC78BD4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6F404-3D05-D17D-E648-1A4D3A41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278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978F-B824-8782-F10D-D380987B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6A13-00B3-B827-CB12-26C5CAD7B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19B3F-B65F-4BBE-4AE5-98A73BAAB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085B85-0AC3-5F41-EC3A-7A833AA91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49686-F876-9A2E-1246-F06325D74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D3498-BA5E-31EB-D7B6-12EF51A3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38FB8-9EF0-932F-AD4B-E533FBC1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16E83-9611-74FB-6331-A80095FB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953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68EE1-0A66-DFD9-7EE1-2122D4B6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3D3C9-39E7-7717-E1FF-D417190D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1D775-39C7-520F-CB84-6E1D2FC0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C1088-80D0-BAF4-443F-65350F6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975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22E73-F96A-7501-79FE-405198D8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75006-AEC1-0B65-CD1F-81779841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1A20-553E-D97B-59CD-7EFE0820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894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D561-8012-07F7-0D0D-A8C7A99F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67C2B-9EB2-B8F7-019C-FBE1F589D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166BF-C49C-2F5E-59E9-575303552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86847-3C1D-C6AC-19A8-487D86CD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12D97-9B43-4472-CA4A-29342052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E3058-9014-6FA1-8D9E-6CC1DA6A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112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D2706-14EB-DD31-2ADD-D23A3D99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336E3-6CA1-8A92-5E33-B9348DB7A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11B09-3628-4713-8F35-C84C0D1F9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77390-F961-A025-647B-372371C23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5624B-D0C4-6096-1F25-13512580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13036-4405-54EE-C505-BDC2F6DD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11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242A-6D15-B72A-7E16-B4EF5DF9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F2789-F4AB-A088-893F-6177FCBE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8ADAE-466C-C173-26D3-61EF71D4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94505-0E5F-1759-D739-23FF37F0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F894-B427-A9E1-91DB-72DA4B16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496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1B509-0255-9F88-F496-FE6A07204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2F5A2-DEF2-A887-8D59-7BEAF9F04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7BEF6-91B8-E190-DD47-D35F0238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419F-7394-DB76-0CE4-FE9487B0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FD2A-9713-6BE5-3E67-8FD3C73A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023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117"/>
            </a:gs>
            <a:gs pos="100000">
              <a:srgbClr val="15182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F0D7E-0183-642C-0D76-4B169CC0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84049-7131-0E94-E16A-4A980139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08D49-2D68-5F42-8D4B-A7CFFB1B2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AAB9B-C943-4474-8071-85F343D2E769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2411-85B9-2CF0-CBEC-E5833E5EA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C190-CE87-CEE3-8F22-41A4733F3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065B2-7831-4229-BD0E-207FAC4C4E54}" type="slidenum">
              <a:rPr lang="LID4096" smtClean="0"/>
              <a:t>‹#›</a:t>
            </a:fld>
            <a:endParaRPr lang="LID4096"/>
          </a:p>
        </p:txBody>
      </p:sp>
      <p:sp>
        <p:nvSpPr>
          <p:cNvPr id="900" name="AccentBar"/>
          <p:cNvSpPr/>
          <p:nvPr userDrawn="1"/>
        </p:nvSpPr>
        <p:spPr>
          <a:xfrm>
            <a:off x="0" y="6583050"/>
            <a:ext cx="12192000" cy="57150"/>
          </a:xfrm>
          <a:prstGeom prst="rect">
            <a:avLst/>
          </a:prstGeom>
          <a:gradFill>
            <a:gsLst>
              <a:gs pos="0">
                <a:srgbClr val="4A7CF7"/>
              </a:gs>
              <a:gs pos="50000">
                <a:srgbClr val="7C5CFC"/>
              </a:gs>
              <a:gs pos="100000">
                <a:srgbClr val="A855F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Glow"/>
          <p:cNvSpPr/>
          <p:nvPr userDrawn="1"/>
        </p:nvSpPr>
        <p:spPr>
          <a:xfrm>
            <a:off x="-914400" y="-914400"/>
            <a:ext cx="3657600" cy="3657600"/>
          </a:xfrm>
          <a:prstGeom prst="ellipse">
            <a:avLst/>
          </a:prstGeom>
          <a:gradFill>
            <a:gsLst>
              <a:gs pos="0">
                <a:srgbClr val="4A7CF7">
                  <a:alpha val="12000"/>
                </a:srgbClr>
              </a:gs>
              <a:gs pos="100000">
                <a:srgbClr val="4A7C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C8D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C8D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C8D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C8D8"/>
          </a:solidFill>
          <a:latin typeface="+mn-lt"/>
          <a:ea typeface="+mn-ea"/>
          <a:cs typeface="+mn-cs"/>
        </a:defRPr>
      </a:lvl9pPr>
    </p:bodyStyle>
    <p:otherStyle>
      <a:defPPr>
        <a:defRPr lang="LID4096">
          <a:solidFill>
            <a:srgbClr val="C8C8D8"/>
          </a:solidFill>
        </a:defRPr>
      </a:defPPr>
      <a:lvl1pPr marL="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8C8D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1Label"/>
          <p:cNvSpPr txBox="1"/>
          <p:nvPr/>
        </p:nvSpPr>
        <p:spPr>
          <a:xfrm>
            <a:off x="457200" y="457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P1</a:t>
            </a:r>
          </a:p>
        </p:txBody>
      </p:sp>
      <p:sp>
        <p:nvSpPr>
          <p:cNvPr id="11" name="P1Ann"/>
          <p:cNvSpPr txBox="1"/>
          <p:nvPr/>
        </p:nvSpPr>
        <p:spPr>
          <a:xfrm>
            <a:off x="6350000" y="409575"/>
            <a:ext cx="538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100" i="1" dirty="0">
                <a:solidFill>
                  <a:srgbClr val="9498B0"/>
                </a:solidFill>
              </a:rPr>
              <a:t>the folder is the source of truth</a:t>
            </a:r>
          </a:p>
        </p:txBody>
      </p:sp>
      <p:cxnSp>
        <p:nvCxnSpPr>
          <p:cNvPr id="12" name="Sep1"/>
          <p:cNvCxnSpPr/>
          <p:nvPr/>
        </p:nvCxnSpPr>
        <p:spPr>
          <a:xfrm>
            <a:off x="863600" y="571500"/>
            <a:ext cx="11328400" cy="0"/>
          </a:xfrm>
          <a:prstGeom prst="straightConnector1">
            <a:avLst/>
          </a:prstGeom>
          <a:ln w="6350">
            <a:solidFill>
              <a:srgbClr val="2A2D42"/>
            </a:solidFill>
          </a:ln>
        </p:spPr>
      </p:cxnSp>
      <p:sp>
        <p:nvSpPr>
          <p:cNvPr id="13" name="P2Label"/>
          <p:cNvSpPr txBox="1"/>
          <p:nvPr/>
        </p:nvSpPr>
        <p:spPr>
          <a:xfrm>
            <a:off x="457200" y="1981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P2</a:t>
            </a:r>
          </a:p>
        </p:txBody>
      </p:sp>
      <p:sp>
        <p:nvSpPr>
          <p:cNvPr id="14" name="P2Ann"/>
          <p:cNvSpPr txBox="1"/>
          <p:nvPr/>
        </p:nvSpPr>
        <p:spPr>
          <a:xfrm>
            <a:off x="3556000" y="1933575"/>
            <a:ext cx="8178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100" i="1" dirty="0">
                <a:solidFill>
                  <a:srgbClr val="9498B0"/>
                </a:solidFill>
              </a:rPr>
              <a:t>Claude reads the design-system MDs — outputs Format pane specs per component</a:t>
            </a:r>
          </a:p>
        </p:txBody>
      </p:sp>
      <p:cxnSp>
        <p:nvCxnSpPr>
          <p:cNvPr id="15" name="Sep2"/>
          <p:cNvCxnSpPr/>
          <p:nvPr/>
        </p:nvCxnSpPr>
        <p:spPr>
          <a:xfrm>
            <a:off x="863600" y="2095500"/>
            <a:ext cx="11328400" cy="0"/>
          </a:xfrm>
          <a:prstGeom prst="straightConnector1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P3Label"/>
          <p:cNvSpPr txBox="1"/>
          <p:nvPr/>
        </p:nvSpPr>
        <p:spPr>
          <a:xfrm>
            <a:off x="457200" y="3505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P3</a:t>
            </a:r>
          </a:p>
        </p:txBody>
      </p:sp>
      <p:sp>
        <p:nvSpPr>
          <p:cNvPr id="17" name="P3Ann"/>
          <p:cNvSpPr txBox="1"/>
          <p:nvPr/>
        </p:nvSpPr>
        <p:spPr>
          <a:xfrm>
            <a:off x="3556000" y="3467100"/>
            <a:ext cx="8178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100" i="1" dirty="0">
                <a:solidFill>
                  <a:srgbClr val="9498B0"/>
                </a:solidFill>
              </a:rPr>
              <a:t>layouts.md is the wireframe — components slot into templates</a:t>
            </a:r>
          </a:p>
        </p:txBody>
      </p:sp>
      <p:cxnSp>
        <p:nvCxnSpPr>
          <p:cNvPr id="18" name="Sep3"/>
          <p:cNvCxnSpPr/>
          <p:nvPr/>
        </p:nvCxnSpPr>
        <p:spPr>
          <a:xfrm>
            <a:off x="863600" y="3619500"/>
            <a:ext cx="11328400" cy="0"/>
          </a:xfrm>
          <a:prstGeom prst="straightConnector1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P4Label"/>
          <p:cNvSpPr txBox="1"/>
          <p:nvPr/>
        </p:nvSpPr>
        <p:spPr>
          <a:xfrm>
            <a:off x="457200" y="5029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P4</a:t>
            </a:r>
          </a:p>
        </p:txBody>
      </p:sp>
      <p:sp>
        <p:nvSpPr>
          <p:cNvPr id="20" name="P4Ann"/>
          <p:cNvSpPr txBox="1"/>
          <p:nvPr/>
        </p:nvSpPr>
        <p:spPr>
          <a:xfrm>
            <a:off x="3556000" y="4972050"/>
            <a:ext cx="8178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100" i="1" dirty="0">
                <a:solidFill>
                  <a:srgbClr val="9498B0"/>
                </a:solidFill>
              </a:rPr>
              <a:t>measure list from P3 wireframe is the input</a:t>
            </a:r>
          </a:p>
        </p:txBody>
      </p:sp>
      <p:cxnSp>
        <p:nvCxnSpPr>
          <p:cNvPr id="21" name="Sep4"/>
          <p:cNvCxnSpPr/>
          <p:nvPr/>
        </p:nvCxnSpPr>
        <p:spPr>
          <a:xfrm>
            <a:off x="863600" y="5143500"/>
            <a:ext cx="11328400" cy="0"/>
          </a:xfrm>
          <a:prstGeom prst="straightConnector1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rd01"/>
          <p:cNvSpPr/>
          <p:nvPr/>
        </p:nvSpPr>
        <p:spPr>
          <a:xfrm>
            <a:off x="711200" y="812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1E203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24" name="Text01"/>
          <p:cNvSpPr txBox="1"/>
          <p:nvPr/>
        </p:nvSpPr>
        <p:spPr>
          <a:xfrm>
            <a:off x="838200" y="1244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01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design-system/</a:t>
            </a:r>
          </a:p>
        </p:txBody>
      </p:sp>
      <p:cxnSp>
        <p:nvCxnSpPr>
          <p:cNvPr id="25" name="Arrow_P1_0"/>
          <p:cNvCxnSpPr/>
          <p:nvPr/>
        </p:nvCxnSpPr>
        <p:spPr>
          <a:xfrm>
            <a:off x="2908300" y="1270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27" name="Card02"/>
          <p:cNvSpPr/>
          <p:nvPr/>
        </p:nvSpPr>
        <p:spPr>
          <a:xfrm>
            <a:off x="3365500" y="812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1E203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28" name="Text02"/>
          <p:cNvSpPr txBox="1"/>
          <p:nvPr/>
        </p:nvSpPr>
        <p:spPr>
          <a:xfrm>
            <a:off x="3492500" y="1244600"/>
            <a:ext cx="1968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02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Claude.ai Design Project</a:t>
            </a:r>
          </a:p>
        </p:txBody>
      </p:sp>
      <p:cxnSp>
        <p:nvCxnSpPr>
          <p:cNvPr id="29" name="DownP1P2"/>
          <p:cNvCxnSpPr>
            <a:cxnSpLocks/>
            <a:endCxn id="31" idx="0"/>
          </p:cNvCxnSpPr>
          <p:nvPr/>
        </p:nvCxnSpPr>
        <p:spPr>
          <a:xfrm flipH="1">
            <a:off x="1758950" y="1752600"/>
            <a:ext cx="6350" cy="584200"/>
          </a:xfrm>
          <a:prstGeom prst="straightConnector1">
            <a:avLst/>
          </a:prstGeom>
          <a:ln w="15875" cap="flat" cmpd="sng" algn="ctr">
            <a:solidFill>
              <a:srgbClr val="555870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Card03"/>
          <p:cNvSpPr/>
          <p:nvPr/>
        </p:nvSpPr>
        <p:spPr>
          <a:xfrm>
            <a:off x="711200" y="2336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32" name="Text03"/>
          <p:cNvSpPr txBox="1"/>
          <p:nvPr/>
        </p:nvSpPr>
        <p:spPr>
          <a:xfrm>
            <a:off x="838200" y="2768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03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Visual Formatting</a:t>
            </a:r>
          </a:p>
        </p:txBody>
      </p:sp>
      <p:cxnSp>
        <p:nvCxnSpPr>
          <p:cNvPr id="33" name="Arrow_P2_0"/>
          <p:cNvCxnSpPr/>
          <p:nvPr/>
        </p:nvCxnSpPr>
        <p:spPr>
          <a:xfrm>
            <a:off x="2908300" y="2794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35" name="Card04"/>
          <p:cNvSpPr/>
          <p:nvPr/>
        </p:nvSpPr>
        <p:spPr>
          <a:xfrm>
            <a:off x="3365500" y="2336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36" name="Text04"/>
          <p:cNvSpPr txBox="1"/>
          <p:nvPr/>
        </p:nvSpPr>
        <p:spPr>
          <a:xfrm>
            <a:off x="3492500" y="2768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04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Component Specs</a:t>
            </a:r>
          </a:p>
        </p:txBody>
      </p:sp>
      <p:cxnSp>
        <p:nvCxnSpPr>
          <p:cNvPr id="37" name="Arrow_P2_1"/>
          <p:cNvCxnSpPr/>
          <p:nvPr/>
        </p:nvCxnSpPr>
        <p:spPr>
          <a:xfrm>
            <a:off x="5562600" y="2794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39" name="Card05"/>
          <p:cNvSpPr/>
          <p:nvPr/>
        </p:nvSpPr>
        <p:spPr>
          <a:xfrm>
            <a:off x="6019800" y="2336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40" name="Text05"/>
          <p:cNvSpPr txBox="1"/>
          <p:nvPr/>
        </p:nvSpPr>
        <p:spPr>
          <a:xfrm>
            <a:off x="6146800" y="2768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05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Brand Assets</a:t>
            </a:r>
          </a:p>
        </p:txBody>
      </p:sp>
      <p:cxnSp>
        <p:nvCxnSpPr>
          <p:cNvPr id="41" name="DownP2P3"/>
          <p:cNvCxnSpPr>
            <a:cxnSpLocks/>
            <a:endCxn id="43" idx="0"/>
          </p:cNvCxnSpPr>
          <p:nvPr/>
        </p:nvCxnSpPr>
        <p:spPr>
          <a:xfrm>
            <a:off x="1758950" y="3276600"/>
            <a:ext cx="0" cy="584200"/>
          </a:xfrm>
          <a:prstGeom prst="straightConnector1">
            <a:avLst/>
          </a:prstGeom>
          <a:ln w="15875">
            <a:solidFill>
              <a:srgbClr val="555870"/>
            </a:solidFill>
            <a:prstDash val="dash"/>
            <a:tailEnd type="triangle" w="med" len="med"/>
          </a:ln>
        </p:spPr>
      </p:cxnSp>
      <p:sp>
        <p:nvSpPr>
          <p:cNvPr id="43" name="Card06"/>
          <p:cNvSpPr/>
          <p:nvPr/>
        </p:nvSpPr>
        <p:spPr>
          <a:xfrm>
            <a:off x="711200" y="3860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44" name="Text06"/>
          <p:cNvSpPr txBox="1"/>
          <p:nvPr/>
        </p:nvSpPr>
        <p:spPr>
          <a:xfrm>
            <a:off x="838200" y="4292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06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Share ERD + Brief</a:t>
            </a:r>
          </a:p>
        </p:txBody>
      </p:sp>
      <p:cxnSp>
        <p:nvCxnSpPr>
          <p:cNvPr id="45" name="Arrow_P3_0"/>
          <p:cNvCxnSpPr/>
          <p:nvPr/>
        </p:nvCxnSpPr>
        <p:spPr>
          <a:xfrm>
            <a:off x="2908300" y="4318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47" name="Card07"/>
          <p:cNvSpPr/>
          <p:nvPr/>
        </p:nvSpPr>
        <p:spPr>
          <a:xfrm>
            <a:off x="3365500" y="3860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48" name="Text07"/>
          <p:cNvSpPr txBox="1"/>
          <p:nvPr/>
        </p:nvSpPr>
        <p:spPr>
          <a:xfrm>
            <a:off x="3492500" y="4292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07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Layout Spec</a:t>
            </a:r>
          </a:p>
        </p:txBody>
      </p:sp>
      <p:cxnSp>
        <p:nvCxnSpPr>
          <p:cNvPr id="49" name="Arrow_P3_1"/>
          <p:cNvCxnSpPr/>
          <p:nvPr/>
        </p:nvCxnSpPr>
        <p:spPr>
          <a:xfrm>
            <a:off x="5562600" y="4318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51" name="Card08"/>
          <p:cNvSpPr/>
          <p:nvPr/>
        </p:nvSpPr>
        <p:spPr>
          <a:xfrm>
            <a:off x="6019800" y="3860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52" name="Text08"/>
          <p:cNvSpPr txBox="1"/>
          <p:nvPr/>
        </p:nvSpPr>
        <p:spPr>
          <a:xfrm>
            <a:off x="6146800" y="4292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08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Iterate</a:t>
            </a:r>
          </a:p>
        </p:txBody>
      </p:sp>
      <p:cxnSp>
        <p:nvCxnSpPr>
          <p:cNvPr id="53" name="DownP3P4"/>
          <p:cNvCxnSpPr>
            <a:cxnSpLocks/>
            <a:endCxn id="55" idx="0"/>
          </p:cNvCxnSpPr>
          <p:nvPr/>
        </p:nvCxnSpPr>
        <p:spPr>
          <a:xfrm flipH="1">
            <a:off x="1758950" y="4800600"/>
            <a:ext cx="6350" cy="584200"/>
          </a:xfrm>
          <a:prstGeom prst="straightConnector1">
            <a:avLst/>
          </a:prstGeom>
          <a:ln w="15875">
            <a:solidFill>
              <a:srgbClr val="555870"/>
            </a:solidFill>
            <a:prstDash val="dash"/>
            <a:tailEnd type="triangle" w="med" len="med"/>
          </a:ln>
        </p:spPr>
      </p:cxnSp>
      <p:sp>
        <p:nvSpPr>
          <p:cNvPr id="55" name="Card09"/>
          <p:cNvSpPr/>
          <p:nvPr/>
        </p:nvSpPr>
        <p:spPr>
          <a:xfrm>
            <a:off x="711200" y="5384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56" name="Text09"/>
          <p:cNvSpPr txBox="1"/>
          <p:nvPr/>
        </p:nvSpPr>
        <p:spPr>
          <a:xfrm>
            <a:off x="838200" y="5816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09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Measures</a:t>
            </a:r>
          </a:p>
        </p:txBody>
      </p:sp>
      <p:cxnSp>
        <p:nvCxnSpPr>
          <p:cNvPr id="57" name="Arrow_P4_0"/>
          <p:cNvCxnSpPr/>
          <p:nvPr/>
        </p:nvCxnSpPr>
        <p:spPr>
          <a:xfrm>
            <a:off x="2908300" y="5842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59" name="Card10"/>
          <p:cNvSpPr/>
          <p:nvPr/>
        </p:nvSpPr>
        <p:spPr>
          <a:xfrm>
            <a:off x="3365500" y="5384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60" name="Text10"/>
          <p:cNvSpPr txBox="1"/>
          <p:nvPr/>
        </p:nvSpPr>
        <p:spPr>
          <a:xfrm>
            <a:off x="3492500" y="5816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10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Calc Groups + UDFs</a:t>
            </a:r>
          </a:p>
        </p:txBody>
      </p:sp>
      <p:cxnSp>
        <p:nvCxnSpPr>
          <p:cNvPr id="61" name="Arrow_P4_1"/>
          <p:cNvCxnSpPr/>
          <p:nvPr/>
        </p:nvCxnSpPr>
        <p:spPr>
          <a:xfrm>
            <a:off x="5562600" y="5842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63" name="Card11"/>
          <p:cNvSpPr/>
          <p:nvPr/>
        </p:nvSpPr>
        <p:spPr>
          <a:xfrm>
            <a:off x="6019800" y="5384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252840"/>
          </a:solidFill>
          <a:ln w="12700">
            <a:solidFill>
              <a:srgbClr val="2A2D42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64" name="Text11"/>
          <p:cNvSpPr txBox="1"/>
          <p:nvPr/>
        </p:nvSpPr>
        <p:spPr>
          <a:xfrm>
            <a:off x="6146800" y="5816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F0C050"/>
                </a:solidFill>
              </a:rPr>
              <a:t>11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SVG Measures</a:t>
            </a:r>
          </a:p>
        </p:txBody>
      </p:sp>
      <p:cxnSp>
        <p:nvCxnSpPr>
          <p:cNvPr id="65" name="Arrow_P4_2"/>
          <p:cNvCxnSpPr/>
          <p:nvPr/>
        </p:nvCxnSpPr>
        <p:spPr>
          <a:xfrm>
            <a:off x="8216900" y="5842000"/>
            <a:ext cx="355600" cy="6350"/>
          </a:xfrm>
          <a:prstGeom prst="straightConnector1">
            <a:avLst/>
          </a:prstGeom>
          <a:ln w="15875">
            <a:solidFill>
              <a:srgbClr val="6B6F8A"/>
            </a:solidFill>
            <a:tailEnd type="triangle" w="med" len="med"/>
          </a:ln>
        </p:spPr>
      </p:cxnSp>
      <p:sp>
        <p:nvSpPr>
          <p:cNvPr id="67" name="Card12"/>
          <p:cNvSpPr/>
          <p:nvPr/>
        </p:nvSpPr>
        <p:spPr>
          <a:xfrm>
            <a:off x="8674100" y="5384800"/>
            <a:ext cx="2095500" cy="914400"/>
          </a:xfrm>
          <a:prstGeom prst="roundRect">
            <a:avLst>
              <a:gd name="adj" fmla="val 5000"/>
            </a:avLst>
          </a:prstGeom>
          <a:solidFill>
            <a:srgbClr val="1A3028"/>
          </a:solidFill>
          <a:ln w="12700">
            <a:solidFill>
              <a:srgbClr val="34D399"/>
            </a:solidFill>
          </a:ln>
        </p:spPr>
        <p:txBody>
          <a:bodyPr lIns="72000" tIns="54000" rIns="72000" bIns="54000" anchor="t"/>
          <a:lstStyle/>
          <a:p>
            <a:endParaRPr lang="en-US"/>
          </a:p>
        </p:txBody>
      </p:sp>
      <p:sp>
        <p:nvSpPr>
          <p:cNvPr id="68" name="Text12"/>
          <p:cNvSpPr txBox="1"/>
          <p:nvPr/>
        </p:nvSpPr>
        <p:spPr>
          <a:xfrm>
            <a:off x="8801100" y="5816600"/>
            <a:ext cx="1841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400" dirty="0">
                <a:solidFill>
                  <a:srgbClr val="34D399"/>
                </a:solidFill>
              </a:rPr>
              <a:t>12</a:t>
            </a:r>
          </a:p>
          <a:p>
            <a:pPr>
              <a:buNone/>
            </a:pPr>
            <a:r>
              <a:rPr lang="en-US" sz="1400" b="1" dirty="0">
                <a:solidFill>
                  <a:srgbClr val="F0F0F5"/>
                </a:solidFill>
              </a:rPr>
              <a:t>Apply in PBI Desktop</a:t>
            </a:r>
          </a:p>
        </p:txBody>
      </p:sp>
      <p:pic>
        <p:nvPicPr>
          <p:cNvPr id="69" name="Graphic 69" descr="Folder icon for step 0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914400"/>
            <a:ext cx="279400" cy="279400"/>
          </a:xfrm>
          <a:prstGeom prst="rect">
            <a:avLst/>
          </a:prstGeom>
        </p:spPr>
      </p:pic>
      <p:pic>
        <p:nvPicPr>
          <p:cNvPr id="70" name="Graphic 70" descr="Cloud icon for step 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2500" y="914400"/>
            <a:ext cx="279400" cy="279400"/>
          </a:xfrm>
          <a:prstGeom prst="rect">
            <a:avLst/>
          </a:prstGeom>
        </p:spPr>
      </p:pic>
      <p:pic>
        <p:nvPicPr>
          <p:cNvPr id="71" name="Graphic 71" descr="Paint icon for step 0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400"/>
            <a:ext cx="279400" cy="279400"/>
          </a:xfrm>
          <a:prstGeom prst="rect">
            <a:avLst/>
          </a:prstGeom>
        </p:spPr>
      </p:pic>
      <p:pic>
        <p:nvPicPr>
          <p:cNvPr id="72" name="Graphic 72" descr="Grid icon for step 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2438400"/>
            <a:ext cx="279400" cy="279400"/>
          </a:xfrm>
          <a:prstGeom prst="rect">
            <a:avLst/>
          </a:prstGeom>
        </p:spPr>
      </p:pic>
      <p:pic>
        <p:nvPicPr>
          <p:cNvPr id="73" name="Graphic 73" descr="Brand icon for step 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800" y="2438400"/>
            <a:ext cx="279400" cy="279400"/>
          </a:xfrm>
          <a:prstGeom prst="rect">
            <a:avLst/>
          </a:prstGeom>
        </p:spPr>
      </p:pic>
      <p:pic>
        <p:nvPicPr>
          <p:cNvPr id="74" name="Graphic 74" descr="Document icon for step 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3962400"/>
            <a:ext cx="279400" cy="279400"/>
          </a:xfrm>
          <a:prstGeom prst="rect">
            <a:avLst/>
          </a:prstGeom>
        </p:spPr>
      </p:pic>
      <p:pic>
        <p:nvPicPr>
          <p:cNvPr id="75" name="Graphic 75" descr="Layout icon for step 0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92500" y="3962400"/>
            <a:ext cx="279400" cy="279400"/>
          </a:xfrm>
          <a:prstGeom prst="rect">
            <a:avLst/>
          </a:prstGeom>
        </p:spPr>
      </p:pic>
      <p:pic>
        <p:nvPicPr>
          <p:cNvPr id="76" name="Graphic 76" descr="Iterate icon for step 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6800" y="3962400"/>
            <a:ext cx="279400" cy="279400"/>
          </a:xfrm>
          <a:prstGeom prst="rect">
            <a:avLst/>
          </a:prstGeom>
        </p:spPr>
      </p:pic>
      <p:pic>
        <p:nvPicPr>
          <p:cNvPr id="78" name="Graphic 78" descr="Calculator icon for step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92500" y="5486400"/>
            <a:ext cx="203200" cy="203200"/>
          </a:xfrm>
          <a:prstGeom prst="rect">
            <a:avLst/>
          </a:prstGeom>
        </p:spPr>
      </p:pic>
      <p:pic>
        <p:nvPicPr>
          <p:cNvPr id="79" name="Graphic 79" descr="Image icon for step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6800" y="5486400"/>
            <a:ext cx="279400" cy="279400"/>
          </a:xfrm>
          <a:prstGeom prst="rect">
            <a:avLst/>
          </a:prstGeom>
        </p:spPr>
      </p:pic>
      <p:pic>
        <p:nvPicPr>
          <p:cNvPr id="80" name="Graphic 80" descr="Checkmark icon for step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01100" y="5486400"/>
            <a:ext cx="279400" cy="279400"/>
          </a:xfrm>
          <a:prstGeom prst="rect">
            <a:avLst/>
          </a:prstGeom>
        </p:spPr>
      </p:pic>
      <p:pic>
        <p:nvPicPr>
          <p:cNvPr id="81" name="Graphic 81" descr="Measures gau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" y="5486400"/>
            <a:ext cx="279400" cy="279400"/>
          </a:xfrm>
          <a:prstGeom prst="rect">
            <a:avLst/>
          </a:prstGeom>
        </p:spPr>
      </p:pic>
      <p:pic>
        <p:nvPicPr>
          <p:cNvPr id="82" name="Graphic 82" descr="UDF termin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46500" y="54864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3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tail01Bg"/>
          <p:cNvSpPr/>
          <p:nvPr/>
        </p:nvSpPr>
        <p:spPr>
          <a:xfrm>
            <a:off x="304800" y="3048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1" name="Detail01Txt"/>
          <p:cNvSpPr txBox="1"/>
          <p:nvPr/>
        </p:nvSpPr>
        <p:spPr>
          <a:xfrm>
            <a:off x="431800" y="3810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01 — design-system/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references/ — colors.md · typography.md · layouts.md · components.md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iconography/ — SKILL.md (Fluent line icons, currentColor, DAX embedding); assets/ 14 line icons + 3 status dots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wordmark/ — SKILL.md (light/dark variants, clear space, DAX embedding); assets/ wordmark-light.svg · wordmark-dark.svg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SKILL.md — design principles, 3-30-300, checklists, evaluation</a:t>
            </a:r>
          </a:p>
        </p:txBody>
      </p:sp>
      <p:sp>
        <p:nvSpPr>
          <p:cNvPr id="202" name="Detail02Bg"/>
          <p:cNvSpPr/>
          <p:nvPr/>
        </p:nvSpPr>
        <p:spPr>
          <a:xfrm>
            <a:off x="6159500" y="3048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3" name="Detail02Txt"/>
          <p:cNvSpPr txBox="1"/>
          <p:nvPr/>
        </p:nvSpPr>
        <p:spPr>
          <a:xfrm>
            <a:off x="6286500" y="3810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02 — Claude.ai Project "Design Studio"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Upload all SKILL.md + reference MDs as Project Knowledge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Also upload: tmdl-standards/, measures/, calc-groups/, dax-udf/, svg-measures/ SKILL.md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Every conversation inherits the full design system + TMDL rules automatically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Re-upload only when MDs change</a:t>
            </a:r>
          </a:p>
        </p:txBody>
      </p:sp>
      <p:sp>
        <p:nvSpPr>
          <p:cNvPr id="204" name="Detail03Bg"/>
          <p:cNvSpPr/>
          <p:nvPr/>
        </p:nvSpPr>
        <p:spPr>
          <a:xfrm>
            <a:off x="304800" y="19177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5" name="Detail03Txt"/>
          <p:cNvSpPr txBox="1"/>
          <p:nvPr/>
        </p:nvSpPr>
        <p:spPr>
          <a:xfrm>
            <a:off x="431800" y="19939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Inter"/>
              </a:rPr>
              <a:t>03 — Visual Formatting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Claude reads components.md for every component’s dimensions, padding, font sizes, colors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Claude reads colors.md for semantic palette and data viz colors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Claude reads typography.md for Segoe UI weight/size at each visual level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Output: exact Format pane property values per component type — ready to apply</a:t>
            </a:r>
          </a:p>
        </p:txBody>
      </p:sp>
      <p:sp>
        <p:nvSpPr>
          <p:cNvPr id="206" name="Detail04Bg"/>
          <p:cNvSpPr/>
          <p:nvPr/>
        </p:nvSpPr>
        <p:spPr>
          <a:xfrm>
            <a:off x="6159500" y="19177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7" name="Detail04Txt"/>
          <p:cNvSpPr txBox="1"/>
          <p:nvPr/>
        </p:nvSpPr>
        <p:spPr>
          <a:xfrm>
            <a:off x="6286500" y="19939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Inter"/>
              </a:rPr>
              <a:t>04 — Component Specs output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KPI Cards — value 28pt bold, label 11pt, gap conditional color, trend icon inline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Line &amp;amp; Column Charts — clusteredColumnChart, axis 10pt, data labels 12pt, gridlines #E7E6E6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Matrix Table — header #0078D4, white text 14pt semibold, row banding off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Page Header — height 48–64px, title x=24 y=24, 28pt Semibold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Slicers — max 3 per page, button style, label 11pt</a:t>
            </a:r>
          </a:p>
        </p:txBody>
      </p:sp>
      <p:sp>
        <p:nvSpPr>
          <p:cNvPr id="208" name="Detail05Bg"/>
          <p:cNvSpPr/>
          <p:nvPr/>
        </p:nvSpPr>
        <p:spPr>
          <a:xfrm>
            <a:off x="304800" y="35306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9" name="Detail05Txt"/>
          <p:cNvSpPr txBox="1"/>
          <p:nvPr/>
        </p:nvSpPr>
        <p:spPr>
          <a:xfrm>
            <a:off x="431800" y="36068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Inter"/>
              </a:rPr>
              <a:t>05 — Brand Assets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Wordmark — light variant on white header zones; dark variant on #0078D4 header fill. x=24 y=12 h=32px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Icons — Fluent line, 20px, currentColor applied at render time per semantic meaning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Both embeddable as inline SVG DAX measures — patterns in each SKILL.md</a:t>
            </a:r>
          </a:p>
        </p:txBody>
      </p:sp>
      <p:sp>
        <p:nvSpPr>
          <p:cNvPr id="210" name="Detail06Bg"/>
          <p:cNvSpPr/>
          <p:nvPr/>
        </p:nvSpPr>
        <p:spPr>
          <a:xfrm>
            <a:off x="6159500" y="35306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1" name="Detail06Txt"/>
          <p:cNvSpPr txBox="1"/>
          <p:nvPr/>
        </p:nvSpPr>
        <p:spPr>
          <a:xfrm>
            <a:off x="6286500" y="36068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7CF7"/>
                </a:solidFill>
                <a:latin typeface="Inter"/>
              </a:rPr>
              <a:t>06 — Read Data Model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Start from the data model — not a list of questions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Share the PBI Model view screenshot or paste a table schema (table name, columns, data types)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Include relationship lines — fact → dim, cardinality (1:*, 1:1), cross-filter direction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List existing measures (name + folder is enough)</a:t>
            </a:r>
          </a:p>
        </p:txBody>
      </p:sp>
      <p:sp>
        <p:nvSpPr>
          <p:cNvPr id="212" name="Detail07Bg"/>
          <p:cNvSpPr/>
          <p:nvPr/>
        </p:nvSpPr>
        <p:spPr>
          <a:xfrm>
            <a:off x="304800" y="51435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3" name="Detail07Txt"/>
          <p:cNvSpPr txBox="1"/>
          <p:nvPr/>
        </p:nvSpPr>
        <p:spPr>
          <a:xfrm>
            <a:off x="431800" y="52197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7CF7"/>
                </a:solidFill>
                <a:latin typeface="Inter"/>
              </a:rPr>
              <a:t>07 — Layout Spec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layouts.md is the wireframe — 5 validated templates, exact x/y/w/h for every zone on 1280×720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Claude maps each business question → visual type (from components.md) → zone in the layout template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Output: position table — Visual | Type | x | y | w | h — every element arithmetically placed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The measure list falls out here — this becomes the input to P4</a:t>
            </a:r>
          </a:p>
        </p:txBody>
      </p:sp>
      <p:sp>
        <p:nvSpPr>
          <p:cNvPr id="214" name="Detail08Bg"/>
          <p:cNvSpPr/>
          <p:nvPr/>
        </p:nvSpPr>
        <p:spPr>
          <a:xfrm>
            <a:off x="6159500" y="51435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5" name="Detail08Txt"/>
          <p:cNvSpPr txBox="1"/>
          <p:nvPr/>
        </p:nvSpPr>
        <p:spPr>
          <a:xfrm>
            <a:off x="6286500" y="52197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7CF7"/>
                </a:solidFill>
                <a:latin typeface="Inter"/>
              </a:rPr>
              <a:t>08 — Iterate Layout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This step is about layout — positions, visual count, and hierarchy. Not colors or theme.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Adjust visual positions, swap or remove visuals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Check hierarchy: 3-30-300 rule — KPIs top-left, most detail bottom-right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Enforce limits: ≤ 15 visuals per page, ≤ 3 slicers, all positions arithmetically equal-spaced</a:t>
            </a:r>
          </a:p>
        </p:txBody>
      </p:sp>
    </p:spTree>
    <p:extLst>
      <p:ext uri="{BB962C8B-B14F-4D97-AF65-F5344CB8AC3E}">
        <p14:creationId xmlns:p14="http://schemas.microsoft.com/office/powerpoint/2010/main" val="261426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Detail09Bg"/>
          <p:cNvSpPr/>
          <p:nvPr/>
        </p:nvSpPr>
        <p:spPr>
          <a:xfrm>
            <a:off x="304800" y="18669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1" name="Detail09Txt"/>
          <p:cNvSpPr txBox="1"/>
          <p:nvPr/>
        </p:nvSpPr>
        <p:spPr>
          <a:xfrm>
            <a:off x="431800" y="19431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09 — Measures TMDL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Input: measure list from step 07 position table (every visual’s field binding requirements)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No expression: keyword — DAX at 4 TABs after =, properties at 3 TABs after body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Wrapped in createOrReplace / ref table _measures</a:t>
            </a:r>
          </a:p>
        </p:txBody>
      </p:sp>
      <p:sp>
        <p:nvSpPr>
          <p:cNvPr id="302" name="Detail10Bg"/>
          <p:cNvSpPr/>
          <p:nvPr/>
        </p:nvSpPr>
        <p:spPr>
          <a:xfrm>
            <a:off x="6159500" y="18669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3" name="Detail10Txt"/>
          <p:cNvSpPr txBox="1"/>
          <p:nvPr/>
        </p:nvSpPr>
        <p:spPr>
          <a:xfrm>
            <a:off x="6286500" y="19431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10 — Calc Groups + UDFs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Calc group: calculationItem 'YTD' = at 3 TABs inside calculationGroup; DAX at 5 TABs; ordinal: at 4 TABs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UDF: function 'Name' = at 1 TAB, params + body at 3 TABs. No expression: anywhere.</a:t>
            </a:r>
          </a:p>
        </p:txBody>
      </p:sp>
      <p:sp>
        <p:nvSpPr>
          <p:cNvPr id="304" name="Detail11Bg"/>
          <p:cNvSpPr/>
          <p:nvPr/>
        </p:nvSpPr>
        <p:spPr>
          <a:xfrm>
            <a:off x="304800" y="34798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1D28"/>
          </a:solidFill>
          <a:ln w="6350">
            <a:solidFill>
              <a:srgbClr val="2A2D3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5" name="Detail11Txt"/>
          <p:cNvSpPr txBox="1"/>
          <p:nvPr/>
        </p:nvSpPr>
        <p:spPr>
          <a:xfrm>
            <a:off x="431800" y="35560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11 — SVG Measures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Inline icon badges — single quotes inside DAX string, currentColor, system fonts only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KPI headers with wordmark using wordmark/SKILL.md DAX embedding pattern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font-family='Segoe UI, Arial, Calibri, sans-serif' on every text element</a:t>
            </a:r>
          </a:p>
        </p:txBody>
      </p:sp>
      <p:sp>
        <p:nvSpPr>
          <p:cNvPr id="306" name="Detail12Bg"/>
          <p:cNvSpPr/>
          <p:nvPr/>
        </p:nvSpPr>
        <p:spPr>
          <a:xfrm>
            <a:off x="6159500" y="3479800"/>
            <a:ext cx="5727700" cy="1511300"/>
          </a:xfrm>
          <a:prstGeom prst="roundRect">
            <a:avLst>
              <a:gd name="adj" fmla="val 3000"/>
            </a:avLst>
          </a:prstGeom>
          <a:solidFill>
            <a:srgbClr val="1A2E28"/>
          </a:solidFill>
          <a:ln w="12700">
            <a:solidFill>
              <a:srgbClr val="34D399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7" name="Detail12Txt"/>
          <p:cNvSpPr txBox="1"/>
          <p:nvPr/>
        </p:nvSpPr>
        <p:spPr>
          <a:xfrm>
            <a:off x="6286500" y="3556000"/>
            <a:ext cx="5499100" cy="138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Inter"/>
              </a:rPr>
              <a:t>12 — Apply in Power BI Desktop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Model view → TMDL view → paste each createOrReplace block → save to validate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View → Themes → Browse → apply theme JSON from step 09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Build visuals using layout position table from step 07; apply component specs from P2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Embed wordmark + icons, add alt text to all visuals, publish to Service</a:t>
            </a:r>
          </a:p>
          <a:p>
            <a:pPr marL="171450" indent="-171450">
              <a:lnSpc>
                <a:spcPts val="850"/>
              </a:lnSpc>
              <a:spcBef>
                <a:spcPts val="100"/>
              </a:spcBef>
              <a:buFont typeface="Arial"/>
              <a:buChar char="–"/>
            </a:pPr>
            <a:r>
              <a:rPr lang="en-US" sz="750" dirty="0">
                <a:solidFill>
                  <a:srgbClr val="B0B0C0"/>
                </a:solidFill>
                <a:latin typeface="Inter"/>
              </a:rPr>
              <a:t>Can be automated via MCPs for end-to-end pipeline</a:t>
            </a:r>
          </a:p>
        </p:txBody>
      </p:sp>
      <p:sp>
        <p:nvSpPr>
          <p:cNvPr id="308" name="P4Label"/>
          <p:cNvSpPr txBox="1"/>
          <p:nvPr/>
        </p:nvSpPr>
        <p:spPr>
          <a:xfrm>
            <a:off x="304800" y="15875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900" b="1" dirty="0">
                <a:solidFill>
                  <a:srgbClr val="E5A335"/>
                </a:solidFill>
                <a:latin typeface="Inter"/>
              </a:rPr>
              <a:t>P4 — continued</a:t>
            </a:r>
          </a:p>
        </p:txBody>
      </p:sp>
    </p:spTree>
    <p:extLst>
      <p:ext uri="{BB962C8B-B14F-4D97-AF65-F5344CB8AC3E}">
        <p14:creationId xmlns:p14="http://schemas.microsoft.com/office/powerpoint/2010/main" val="80204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721934143]">
  <a:themeElements>
    <a:clrScheme name="BluPulse">
      <a:dk1>
        <a:srgbClr val="F0F0F5"/>
      </a:dk1>
      <a:lt1>
        <a:srgbClr val="0F1117"/>
      </a:lt1>
      <a:dk2>
        <a:srgbClr val="B0B0C0"/>
      </a:dk2>
      <a:lt2>
        <a:srgbClr val="1A1D28"/>
      </a:lt2>
      <a:accent1>
        <a:srgbClr val="4A7CF7"/>
      </a:accent1>
      <a:accent2>
        <a:srgbClr val="7C5CFC"/>
      </a:accent2>
      <a:accent3>
        <a:srgbClr val="A855F7"/>
      </a:accent3>
      <a:accent4>
        <a:srgbClr val="6366F1"/>
      </a:accent4>
      <a:accent5>
        <a:srgbClr val="38BDF8"/>
      </a:accent5>
      <a:accent6>
        <a:srgbClr val="818CF8"/>
      </a:accent6>
      <a:hlink>
        <a:srgbClr val="7C5CFC"/>
      </a:hlink>
      <a:folHlink>
        <a:srgbClr val="A855F7"/>
      </a:folHlink>
    </a:clrScheme>
    <a:fontScheme name="BluPuls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F01E9D-651C-4906-AE4E-3C10AC9133F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d877823-5b0e-42ac-87a1-e0443eb8e3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Microsoft Office PowerPoint</Application>
  <PresentationFormat>Widescreen</PresentationFormat>
  <Paragraphs>90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Inter</vt:lpstr>
      <vt:lpstr>Office Theme [1777721934143]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Papworth</dc:creator>
  <cp:lastModifiedBy>Jonathan Papworth</cp:lastModifiedBy>
  <cp:revision>3</cp:revision>
  <dcterms:created xsi:type="dcterms:W3CDTF">2026-05-02T11:38:54Z</dcterms:created>
  <dcterms:modified xsi:type="dcterms:W3CDTF">2026-05-03T16:41:22Z</dcterms:modified>
</cp:coreProperties>
</file>